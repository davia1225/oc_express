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8" r:id="rId2"/>
    <p:sldId id="256" r:id="rId3"/>
    <p:sldId id="257" r:id="rId4"/>
    <p:sldId id="258" r:id="rId5"/>
    <p:sldId id="269" r:id="rId6"/>
    <p:sldId id="259" r:id="rId7"/>
    <p:sldId id="270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4" r:id="rId16"/>
    <p:sldId id="271" r:id="rId17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457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6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92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2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E4FBA9B-4162-46D7-8D5C-E2E4A738D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6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F0ED283-74D1-446E-97B4-6406F54E0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91440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LHG LOGÍSTICA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3119" y="16230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SisLog</a:t>
            </a:r>
            <a:r>
              <a:rPr lang="en-US" sz="4000" b="1" dirty="0">
                <a:solidFill>
                  <a:srgbClr val="FF51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LHG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Do Excel preenchido célula a célula</a:t>
            </a:r>
            <a:endParaRPr lang="en-US" sz="2000" dirty="0">
              <a:highlight>
                <a:srgbClr val="C0C0C0"/>
              </a:highlight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à emissão da Ordem de Carregamento em poucos cliques</a:t>
            </a:r>
            <a:r>
              <a:rPr lang="en-US" sz="2000" dirty="0">
                <a:solidFill>
                  <a:srgbClr val="E7E9EC"/>
                </a:solidFill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>
              <a:highlight>
                <a:srgbClr val="C0C0C0"/>
              </a:highlight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5074920"/>
            <a:ext cx="1741932" cy="457200"/>
          </a:xfrm>
          <a:prstGeom prst="roundRect">
            <a:avLst>
              <a:gd name="adj" fmla="val 12000"/>
            </a:avLst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7492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 rápido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84932" y="5074920"/>
            <a:ext cx="1495044" cy="457200"/>
          </a:xfrm>
          <a:prstGeom prst="roundRect">
            <a:avLst>
              <a:gd name="adj" fmla="val 12000"/>
            </a:avLst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4932" y="5074920"/>
            <a:ext cx="1495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08576" y="5074920"/>
            <a:ext cx="2112264" cy="457200"/>
          </a:xfrm>
          <a:prstGeom prst="roundRect">
            <a:avLst>
              <a:gd name="adj" fmla="val 12000"/>
            </a:avLst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507492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retrabalho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executiva  ·  Ganhos de agilidade na operação</a:t>
            </a:r>
            <a:endParaRPr lang="en-US" sz="11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BC022323-1A55-49BB-91CE-83702C353238}"/>
              </a:ext>
            </a:extLst>
          </p:cNvPr>
          <p:cNvSpPr/>
          <p:nvPr/>
        </p:nvSpPr>
        <p:spPr>
          <a:xfrm>
            <a:off x="868680" y="3474720"/>
            <a:ext cx="4008120" cy="457200"/>
          </a:xfrm>
          <a:prstGeom prst="roundRect">
            <a:avLst>
              <a:gd name="adj" fmla="val 12000"/>
            </a:avLst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Excel preenchido célula a célula</a:t>
            </a: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8DAF840B-4EF8-4FB0-BF6C-641E601896CF}"/>
              </a:ext>
            </a:extLst>
          </p:cNvPr>
          <p:cNvSpPr/>
          <p:nvPr/>
        </p:nvSpPr>
        <p:spPr>
          <a:xfrm>
            <a:off x="868679" y="3840480"/>
            <a:ext cx="6641253" cy="502920"/>
          </a:xfrm>
          <a:prstGeom prst="roundRect">
            <a:avLst>
              <a:gd name="adj" fmla="val 12000"/>
            </a:avLst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  <p:txBody>
          <a:bodyPr/>
          <a:lstStyle/>
          <a:p>
            <a:r>
              <a:rPr lang="pt-B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à emissão da Ordem de Carregamento em poucos cliques</a:t>
            </a:r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A9A8857A-A6AE-47E2-99DE-164A6386D0C8}"/>
              </a:ext>
            </a:extLst>
          </p:cNvPr>
          <p:cNvSpPr/>
          <p:nvPr/>
        </p:nvSpPr>
        <p:spPr>
          <a:xfrm>
            <a:off x="823119" y="1794510"/>
            <a:ext cx="4714081" cy="982980"/>
          </a:xfrm>
          <a:prstGeom prst="roundRect">
            <a:avLst>
              <a:gd name="adj" fmla="val 12000"/>
            </a:avLst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  <p:txBody>
          <a:bodyPr/>
          <a:lstStyle/>
          <a:p>
            <a:r>
              <a:rPr lang="en-US" sz="5400" b="1" dirty="0" err="1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SisLog</a:t>
            </a:r>
            <a:r>
              <a:rPr lang="en-US" sz="5400" b="1" dirty="0">
                <a:solidFill>
                  <a:srgbClr val="FF51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LHG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>
            <a:extLst>
              <a:ext uri="{FF2B5EF4-FFF2-40B4-BE49-F238E27FC236}">
                <a16:creationId xmlns:a16="http://schemas.microsoft.com/office/drawing/2014/main" id="{68BE04EE-09AC-4AD0-8DFE-BCFD3AB2DBA6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D334CB27-B329-4C22-B03F-59834FB2C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983479" y="813139"/>
            <a:ext cx="1866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É HOJE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5319" y="1087458"/>
            <a:ext cx="10881360" cy="567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Emitir uma OC pela planilha consome tempo e gera erro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947672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34" y="2120494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892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Preenchimento manual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22585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a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planilha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digitar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~10 campos, célula por célula, em toda OC.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691640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1947672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494" y="2120494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892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redigitado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360920" y="22585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Motorista, placas, cliente e material são digitados de novo a cada solicitação.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227832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227832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19" name="Shape 15"/>
          <p:cNvSpPr/>
          <p:nvPr/>
        </p:nvSpPr>
        <p:spPr>
          <a:xfrm>
            <a:off x="896112" y="3483864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934" y="3656686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3429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validação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73736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 de placa, CPF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direto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atrasa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emissão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futura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 aparece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depois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hora de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faturar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63640" y="3227832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63640" y="3227832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25" name="Shape 20"/>
          <p:cNvSpPr/>
          <p:nvPr/>
        </p:nvSpPr>
        <p:spPr>
          <a:xfrm>
            <a:off x="6519672" y="3483864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494" y="3656686"/>
            <a:ext cx="294437" cy="29443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0920" y="3429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 e anexa à mão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36092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Salvar PDF, abrir o WhatsApp e anexar manualmente, uma OC de cada vez.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4764024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0080" y="4764024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31" name="Shape 25"/>
          <p:cNvSpPr/>
          <p:nvPr/>
        </p:nvSpPr>
        <p:spPr>
          <a:xfrm>
            <a:off x="896112" y="5020056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934" y="5192878"/>
            <a:ext cx="294437" cy="29443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737360" y="4965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status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1737360" y="53309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Apenas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um PDF para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ocupar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espaço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disco.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263640" y="4764024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63640" y="4764024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37" name="Shape 30"/>
          <p:cNvSpPr/>
          <p:nvPr/>
        </p:nvSpPr>
        <p:spPr>
          <a:xfrm>
            <a:off x="6519672" y="5020056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2494" y="5192878"/>
            <a:ext cx="294437" cy="29443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360920" y="4965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Arquivo isolado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7360920" y="53309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planilha vive na máquina de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pessoa</a:t>
            </a: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sem histórico nem visão da equipe.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>
            <a:extLst>
              <a:ext uri="{FF2B5EF4-FFF2-40B4-BE49-F238E27FC236}">
                <a16:creationId xmlns:a16="http://schemas.microsoft.com/office/drawing/2014/main" id="{BD2E5C8F-3C7F-4B5D-93B0-56E94F972E32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61" name="Imagem 60">
            <a:extLst>
              <a:ext uri="{FF2B5EF4-FFF2-40B4-BE49-F238E27FC236}">
                <a16:creationId xmlns:a16="http://schemas.microsoft.com/office/drawing/2014/main" id="{F003A26A-48A2-49EC-82A7-A811ADC3E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975511" y="609769"/>
            <a:ext cx="2210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× DEPOIS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5319" y="9687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 que </a:t>
            </a:r>
            <a:r>
              <a:rPr lang="en-US" sz="3100" b="1" dirty="0" err="1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muda</a:t>
            </a: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?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5285232" cy="5486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6236208" y="1627632"/>
            <a:ext cx="5285232" cy="54864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27632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ANTES  ·  Excel manual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36208" y="1627632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DEPOIS  ·  SisLog LHG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5285232" cy="548640"/>
          </a:xfrm>
          <a:prstGeom prst="rect">
            <a:avLst/>
          </a:prstGeom>
          <a:solidFill>
            <a:srgbClr val="ECEFF2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395728"/>
            <a:ext cx="365760" cy="365760"/>
          </a:xfrm>
          <a:prstGeom prst="ellipse">
            <a:avLst/>
          </a:prstGeom>
          <a:solidFill>
            <a:srgbClr val="D9DCE0"/>
          </a:solidFill>
          <a:ln/>
        </p:spPr>
      </p:sp>
      <p:sp>
        <p:nvSpPr>
          <p:cNvPr id="12" name="Text 9"/>
          <p:cNvSpPr/>
          <p:nvPr/>
        </p:nvSpPr>
        <p:spPr>
          <a:xfrm>
            <a:off x="1298448" y="2304288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95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Digitar ~10 campos, célula por célula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36208" y="2304288"/>
            <a:ext cx="5285232" cy="54864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0" y="2395728"/>
            <a:ext cx="365760" cy="365760"/>
          </a:xfrm>
          <a:prstGeom prst="ellipse">
            <a:avLst/>
          </a:prstGeom>
          <a:solidFill>
            <a:srgbClr val="FFE0CC"/>
          </a:solidFill>
          <a:ln/>
        </p:spPr>
      </p:sp>
      <p:sp>
        <p:nvSpPr>
          <p:cNvPr id="16" name="Text 12"/>
          <p:cNvSpPr/>
          <p:nvPr/>
        </p:nvSpPr>
        <p:spPr>
          <a:xfrm>
            <a:off x="6894576" y="2304288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Selecionar dados já cadastrados em segundos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2926080"/>
            <a:ext cx="5285232" cy="548640"/>
          </a:xfrm>
          <a:prstGeom prst="rect">
            <a:avLst/>
          </a:prstGeom>
          <a:solidFill>
            <a:srgbClr val="ECEFF2"/>
          </a:solidFill>
          <a:ln/>
        </p:spPr>
      </p:sp>
      <p:sp>
        <p:nvSpPr>
          <p:cNvPr id="18" name="Shape 14"/>
          <p:cNvSpPr/>
          <p:nvPr/>
        </p:nvSpPr>
        <p:spPr>
          <a:xfrm>
            <a:off x="804672" y="3017520"/>
            <a:ext cx="365760" cy="365760"/>
          </a:xfrm>
          <a:prstGeom prst="ellipse">
            <a:avLst/>
          </a:prstGeom>
          <a:solidFill>
            <a:srgbClr val="D9DCE0"/>
          </a:solidFill>
          <a:ln/>
        </p:spPr>
      </p:sp>
      <p:sp>
        <p:nvSpPr>
          <p:cNvPr id="20" name="Text 15"/>
          <p:cNvSpPr/>
          <p:nvPr/>
        </p:nvSpPr>
        <p:spPr>
          <a:xfrm>
            <a:off x="1298448" y="292608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95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Redigitar motorista, placa e cliente sempre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36208" y="2926080"/>
            <a:ext cx="5285232" cy="54864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22" name="Shape 17"/>
          <p:cNvSpPr/>
          <p:nvPr/>
        </p:nvSpPr>
        <p:spPr>
          <a:xfrm>
            <a:off x="6400800" y="3017520"/>
            <a:ext cx="365760" cy="365760"/>
          </a:xfrm>
          <a:prstGeom prst="ellipse">
            <a:avLst/>
          </a:prstGeom>
          <a:solidFill>
            <a:srgbClr val="FFE0CC"/>
          </a:solidFill>
          <a:ln/>
        </p:spPr>
      </p:sp>
      <p:sp>
        <p:nvSpPr>
          <p:cNvPr id="24" name="Text 18"/>
          <p:cNvSpPr/>
          <p:nvPr/>
        </p:nvSpPr>
        <p:spPr>
          <a:xfrm>
            <a:off x="6894576" y="292608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Autocomplete: motorista e veículo num clique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3547872"/>
            <a:ext cx="5285232" cy="548640"/>
          </a:xfrm>
          <a:prstGeom prst="rect">
            <a:avLst/>
          </a:prstGeom>
          <a:solidFill>
            <a:srgbClr val="ECEFF2"/>
          </a:solidFill>
          <a:ln/>
        </p:spPr>
      </p:sp>
      <p:sp>
        <p:nvSpPr>
          <p:cNvPr id="26" name="Shape 20"/>
          <p:cNvSpPr/>
          <p:nvPr/>
        </p:nvSpPr>
        <p:spPr>
          <a:xfrm>
            <a:off x="804672" y="3639312"/>
            <a:ext cx="365760" cy="365760"/>
          </a:xfrm>
          <a:prstGeom prst="ellipse">
            <a:avLst/>
          </a:prstGeom>
          <a:solidFill>
            <a:srgbClr val="D9DCE0"/>
          </a:solidFill>
          <a:ln/>
        </p:spPr>
      </p:sp>
      <p:sp>
        <p:nvSpPr>
          <p:cNvPr id="28" name="Text 21"/>
          <p:cNvSpPr/>
          <p:nvPr/>
        </p:nvSpPr>
        <p:spPr>
          <a:xfrm>
            <a:off x="1298448" y="3547872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95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conferência de placa / CPF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236208" y="3547872"/>
            <a:ext cx="5285232" cy="54864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0" name="Shape 23"/>
          <p:cNvSpPr/>
          <p:nvPr/>
        </p:nvSpPr>
        <p:spPr>
          <a:xfrm>
            <a:off x="6400800" y="3639312"/>
            <a:ext cx="365760" cy="365760"/>
          </a:xfrm>
          <a:prstGeom prst="ellipse">
            <a:avLst/>
          </a:prstGeom>
          <a:solidFill>
            <a:srgbClr val="FFE0CC"/>
          </a:solidFill>
          <a:ln/>
        </p:spPr>
      </p:sp>
      <p:sp>
        <p:nvSpPr>
          <p:cNvPr id="32" name="Text 24"/>
          <p:cNvSpPr/>
          <p:nvPr/>
        </p:nvSpPr>
        <p:spPr>
          <a:xfrm>
            <a:off x="6894576" y="3547872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automática de placa, CPF e CNPJ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640080" y="4169664"/>
            <a:ext cx="5285232" cy="548640"/>
          </a:xfrm>
          <a:prstGeom prst="rect">
            <a:avLst/>
          </a:prstGeom>
          <a:solidFill>
            <a:srgbClr val="ECEFF2"/>
          </a:solidFill>
          <a:ln/>
        </p:spPr>
      </p:sp>
      <p:sp>
        <p:nvSpPr>
          <p:cNvPr id="34" name="Shape 26"/>
          <p:cNvSpPr/>
          <p:nvPr/>
        </p:nvSpPr>
        <p:spPr>
          <a:xfrm>
            <a:off x="804672" y="4261104"/>
            <a:ext cx="365760" cy="365760"/>
          </a:xfrm>
          <a:prstGeom prst="ellipse">
            <a:avLst/>
          </a:prstGeom>
          <a:solidFill>
            <a:srgbClr val="D9DCE0"/>
          </a:solidFill>
          <a:ln/>
        </p:spPr>
      </p:sp>
      <p:sp>
        <p:nvSpPr>
          <p:cNvPr id="36" name="Text 27"/>
          <p:cNvSpPr/>
          <p:nvPr/>
        </p:nvSpPr>
        <p:spPr>
          <a:xfrm>
            <a:off x="1298448" y="4169664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95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Exportar PDF e anexar no zap na mão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6236208" y="4169664"/>
            <a:ext cx="5285232" cy="54864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8" name="Shape 29"/>
          <p:cNvSpPr/>
          <p:nvPr/>
        </p:nvSpPr>
        <p:spPr>
          <a:xfrm>
            <a:off x="6400800" y="4261104"/>
            <a:ext cx="365760" cy="365760"/>
          </a:xfrm>
          <a:prstGeom prst="ellipse">
            <a:avLst/>
          </a:prstGeom>
          <a:solidFill>
            <a:srgbClr val="FFE0CC"/>
          </a:solidFill>
          <a:ln/>
        </p:spPr>
      </p:sp>
      <p:sp>
        <p:nvSpPr>
          <p:cNvPr id="40" name="Text 30"/>
          <p:cNvSpPr/>
          <p:nvPr/>
        </p:nvSpPr>
        <p:spPr>
          <a:xfrm>
            <a:off x="6894576" y="4169664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gerado e enviado por WhatsApp pelo sistema</a:t>
            </a:r>
            <a:endParaRPr lang="en-US" sz="1250" dirty="0"/>
          </a:p>
        </p:txBody>
      </p:sp>
      <p:sp>
        <p:nvSpPr>
          <p:cNvPr id="41" name="Shape 31"/>
          <p:cNvSpPr/>
          <p:nvPr/>
        </p:nvSpPr>
        <p:spPr>
          <a:xfrm>
            <a:off x="640080" y="4791456"/>
            <a:ext cx="5285232" cy="548640"/>
          </a:xfrm>
          <a:prstGeom prst="rect">
            <a:avLst/>
          </a:prstGeom>
          <a:solidFill>
            <a:srgbClr val="ECEFF2"/>
          </a:solidFill>
          <a:ln/>
        </p:spPr>
      </p:sp>
      <p:sp>
        <p:nvSpPr>
          <p:cNvPr id="42" name="Shape 32"/>
          <p:cNvSpPr/>
          <p:nvPr/>
        </p:nvSpPr>
        <p:spPr>
          <a:xfrm>
            <a:off x="804672" y="4882896"/>
            <a:ext cx="365760" cy="365760"/>
          </a:xfrm>
          <a:prstGeom prst="ellipse">
            <a:avLst/>
          </a:prstGeom>
          <a:solidFill>
            <a:srgbClr val="D9DCE0"/>
          </a:solidFill>
          <a:ln/>
        </p:spPr>
      </p:sp>
      <p:sp>
        <p:nvSpPr>
          <p:cNvPr id="44" name="Text 33"/>
          <p:cNvSpPr/>
          <p:nvPr/>
        </p:nvSpPr>
        <p:spPr>
          <a:xfrm>
            <a:off x="1298448" y="4791456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95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status: não se sabe onde a OC está</a:t>
            </a:r>
            <a:endParaRPr lang="en-US" sz="1250" dirty="0"/>
          </a:p>
        </p:txBody>
      </p:sp>
      <p:sp>
        <p:nvSpPr>
          <p:cNvPr id="45" name="Shape 34"/>
          <p:cNvSpPr/>
          <p:nvPr/>
        </p:nvSpPr>
        <p:spPr>
          <a:xfrm>
            <a:off x="6236208" y="4791456"/>
            <a:ext cx="5285232" cy="54864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46" name="Shape 35"/>
          <p:cNvSpPr/>
          <p:nvPr/>
        </p:nvSpPr>
        <p:spPr>
          <a:xfrm>
            <a:off x="6400800" y="4882896"/>
            <a:ext cx="365760" cy="365760"/>
          </a:xfrm>
          <a:prstGeom prst="ellipse">
            <a:avLst/>
          </a:prstGeom>
          <a:solidFill>
            <a:srgbClr val="FFE0CC"/>
          </a:solidFill>
          <a:ln/>
        </p:spPr>
      </p:sp>
      <p:sp>
        <p:nvSpPr>
          <p:cNvPr id="48" name="Text 36"/>
          <p:cNvSpPr/>
          <p:nvPr/>
        </p:nvSpPr>
        <p:spPr>
          <a:xfrm>
            <a:off x="6894576" y="4791456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e linha do tempo de cada solicitação</a:t>
            </a:r>
            <a:endParaRPr lang="en-US" sz="1250" dirty="0"/>
          </a:p>
        </p:txBody>
      </p:sp>
      <p:sp>
        <p:nvSpPr>
          <p:cNvPr id="49" name="Shape 37"/>
          <p:cNvSpPr/>
          <p:nvPr/>
        </p:nvSpPr>
        <p:spPr>
          <a:xfrm>
            <a:off x="640080" y="5413248"/>
            <a:ext cx="5285232" cy="548640"/>
          </a:xfrm>
          <a:prstGeom prst="rect">
            <a:avLst/>
          </a:prstGeom>
          <a:solidFill>
            <a:srgbClr val="ECEFF2"/>
          </a:solidFill>
          <a:ln/>
        </p:spPr>
      </p:sp>
      <p:sp>
        <p:nvSpPr>
          <p:cNvPr id="50" name="Shape 38"/>
          <p:cNvSpPr/>
          <p:nvPr/>
        </p:nvSpPr>
        <p:spPr>
          <a:xfrm>
            <a:off x="804672" y="5504688"/>
            <a:ext cx="365760" cy="365760"/>
          </a:xfrm>
          <a:prstGeom prst="ellipse">
            <a:avLst/>
          </a:prstGeom>
          <a:solidFill>
            <a:srgbClr val="D9DCE0"/>
          </a:solidFill>
          <a:ln/>
        </p:spPr>
      </p:sp>
      <p:sp>
        <p:nvSpPr>
          <p:cNvPr id="52" name="Text 39"/>
          <p:cNvSpPr/>
          <p:nvPr/>
        </p:nvSpPr>
        <p:spPr>
          <a:xfrm>
            <a:off x="1298448" y="5413248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95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Planilha na máquina de uma pessoa</a:t>
            </a:r>
            <a:endParaRPr lang="en-US" sz="1250" dirty="0"/>
          </a:p>
        </p:txBody>
      </p:sp>
      <p:sp>
        <p:nvSpPr>
          <p:cNvPr id="53" name="Shape 40"/>
          <p:cNvSpPr/>
          <p:nvPr/>
        </p:nvSpPr>
        <p:spPr>
          <a:xfrm>
            <a:off x="6236208" y="5413248"/>
            <a:ext cx="5285232" cy="54864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54" name="Shape 41"/>
          <p:cNvSpPr/>
          <p:nvPr/>
        </p:nvSpPr>
        <p:spPr>
          <a:xfrm>
            <a:off x="6400800" y="5504688"/>
            <a:ext cx="365760" cy="365760"/>
          </a:xfrm>
          <a:prstGeom prst="ellipse">
            <a:avLst/>
          </a:prstGeom>
          <a:solidFill>
            <a:srgbClr val="FFE0CC"/>
          </a:solidFill>
          <a:ln/>
        </p:spPr>
      </p:sp>
      <p:sp>
        <p:nvSpPr>
          <p:cNvPr id="56" name="Text 42"/>
          <p:cNvSpPr/>
          <p:nvPr/>
        </p:nvSpPr>
        <p:spPr>
          <a:xfrm>
            <a:off x="6894576" y="5413248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na nuvem, multiusuário e auditado</a:t>
            </a:r>
            <a:endParaRPr lang="en-US" sz="1250" dirty="0"/>
          </a:p>
        </p:txBody>
      </p:sp>
      <p:sp>
        <p:nvSpPr>
          <p:cNvPr id="57" name="Text 4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58" name="Text 44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12</a:t>
            </a:r>
            <a:endParaRPr lang="en-US" sz="900" dirty="0"/>
          </a:p>
        </p:txBody>
      </p:sp>
      <p:pic>
        <p:nvPicPr>
          <p:cNvPr id="62" name="Google Shape;375;p3">
            <a:extLst>
              <a:ext uri="{FF2B5EF4-FFF2-40B4-BE49-F238E27FC236}">
                <a16:creationId xmlns:a16="http://schemas.microsoft.com/office/drawing/2014/main" id="{29B4F04D-72FE-4084-AA92-CDCFFD7AB50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5692" y="2453333"/>
            <a:ext cx="223719" cy="224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375;p3">
            <a:extLst>
              <a:ext uri="{FF2B5EF4-FFF2-40B4-BE49-F238E27FC236}">
                <a16:creationId xmlns:a16="http://schemas.microsoft.com/office/drawing/2014/main" id="{13884193-E268-4958-9132-AE2D81035FB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436" y="3070507"/>
            <a:ext cx="223719" cy="224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375;p3">
            <a:extLst>
              <a:ext uri="{FF2B5EF4-FFF2-40B4-BE49-F238E27FC236}">
                <a16:creationId xmlns:a16="http://schemas.microsoft.com/office/drawing/2014/main" id="{30D8B790-4A92-4364-A73F-B38E6FE4F15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5692" y="3696024"/>
            <a:ext cx="223719" cy="224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375;p3">
            <a:extLst>
              <a:ext uri="{FF2B5EF4-FFF2-40B4-BE49-F238E27FC236}">
                <a16:creationId xmlns:a16="http://schemas.microsoft.com/office/drawing/2014/main" id="{8E434DB0-9ECB-48C9-94FE-06BD5C2CB5A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678" y="4335642"/>
            <a:ext cx="223719" cy="224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375;p3">
            <a:extLst>
              <a:ext uri="{FF2B5EF4-FFF2-40B4-BE49-F238E27FC236}">
                <a16:creationId xmlns:a16="http://schemas.microsoft.com/office/drawing/2014/main" id="{50247DF0-4036-461E-9072-9CC5EA6332C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8720" y="4960821"/>
            <a:ext cx="223719" cy="224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375;p3">
            <a:extLst>
              <a:ext uri="{FF2B5EF4-FFF2-40B4-BE49-F238E27FC236}">
                <a16:creationId xmlns:a16="http://schemas.microsoft.com/office/drawing/2014/main" id="{9E232B45-8481-4244-9FF7-17DC55C2854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5692" y="5579226"/>
            <a:ext cx="223719" cy="224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376;p3">
            <a:extLst>
              <a:ext uri="{FF2B5EF4-FFF2-40B4-BE49-F238E27FC236}">
                <a16:creationId xmlns:a16="http://schemas.microsoft.com/office/drawing/2014/main" id="{D590CDF5-D174-4137-ABCA-AA3559D9ADC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1121419">
            <a:off x="6448298" y="2458988"/>
            <a:ext cx="270761" cy="25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376;p3">
            <a:extLst>
              <a:ext uri="{FF2B5EF4-FFF2-40B4-BE49-F238E27FC236}">
                <a16:creationId xmlns:a16="http://schemas.microsoft.com/office/drawing/2014/main" id="{519CA265-128F-4304-8C4C-F14B9C0F6DB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1121419">
            <a:off x="6446727" y="3080779"/>
            <a:ext cx="270761" cy="25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376;p3">
            <a:extLst>
              <a:ext uri="{FF2B5EF4-FFF2-40B4-BE49-F238E27FC236}">
                <a16:creationId xmlns:a16="http://schemas.microsoft.com/office/drawing/2014/main" id="{ECAA9123-008F-4D34-8865-48CC79C542F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1121419">
            <a:off x="6448299" y="3716120"/>
            <a:ext cx="270761" cy="25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376;p3">
            <a:extLst>
              <a:ext uri="{FF2B5EF4-FFF2-40B4-BE49-F238E27FC236}">
                <a16:creationId xmlns:a16="http://schemas.microsoft.com/office/drawing/2014/main" id="{38838DC2-30A5-495E-B86F-0F97503709E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1121419">
            <a:off x="6446728" y="4315220"/>
            <a:ext cx="270761" cy="25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376;p3">
            <a:extLst>
              <a:ext uri="{FF2B5EF4-FFF2-40B4-BE49-F238E27FC236}">
                <a16:creationId xmlns:a16="http://schemas.microsoft.com/office/drawing/2014/main" id="{6FF2A284-FCF0-4DAD-B226-544C734C559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1121419">
            <a:off x="6438262" y="4947759"/>
            <a:ext cx="270761" cy="257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376;p3">
            <a:extLst>
              <a:ext uri="{FF2B5EF4-FFF2-40B4-BE49-F238E27FC236}">
                <a16:creationId xmlns:a16="http://schemas.microsoft.com/office/drawing/2014/main" id="{AAE77C71-CE56-42B8-8041-AB881279B69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1121419">
            <a:off x="6446729" y="5558804"/>
            <a:ext cx="270761" cy="257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>
            <a:extLst>
              <a:ext uri="{FF2B5EF4-FFF2-40B4-BE49-F238E27FC236}">
                <a16:creationId xmlns:a16="http://schemas.microsoft.com/office/drawing/2014/main" id="{68BE04EE-09AC-4AD0-8DFE-BCFD3AB2DBA6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D334CB27-B329-4C22-B03F-59834FB2C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120878" y="611970"/>
            <a:ext cx="1866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VANTAGENS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5319" y="1087458"/>
            <a:ext cx="10881360" cy="567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Ganhos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947672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sp>
        <p:nvSpPr>
          <p:cNvPr id="9" name="Text 6"/>
          <p:cNvSpPr/>
          <p:nvPr/>
        </p:nvSpPr>
        <p:spPr>
          <a:xfrm>
            <a:off x="1737360" y="189280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Organização de Fila de OC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22585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691640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1947672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sp>
        <p:nvSpPr>
          <p:cNvPr id="15" name="Text 11"/>
          <p:cNvSpPr/>
          <p:nvPr/>
        </p:nvSpPr>
        <p:spPr>
          <a:xfrm>
            <a:off x="7360920" y="18928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Detalhamento de Tempo de atendimento</a:t>
            </a:r>
          </a:p>
        </p:txBody>
      </p:sp>
      <p:sp>
        <p:nvSpPr>
          <p:cNvPr id="16" name="Text 12"/>
          <p:cNvSpPr/>
          <p:nvPr/>
        </p:nvSpPr>
        <p:spPr>
          <a:xfrm>
            <a:off x="7360920" y="22585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227832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227832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19" name="Shape 15"/>
          <p:cNvSpPr/>
          <p:nvPr/>
        </p:nvSpPr>
        <p:spPr>
          <a:xfrm>
            <a:off x="896112" y="3483864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sp>
        <p:nvSpPr>
          <p:cNvPr id="21" name="Text 16"/>
          <p:cNvSpPr/>
          <p:nvPr/>
        </p:nvSpPr>
        <p:spPr>
          <a:xfrm>
            <a:off x="1737360" y="34290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Eliminação</a:t>
            </a: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e-mail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73736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63640" y="3227832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63640" y="3227832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25" name="Shape 20"/>
          <p:cNvSpPr/>
          <p:nvPr/>
        </p:nvSpPr>
        <p:spPr>
          <a:xfrm>
            <a:off x="6519672" y="3483864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sp>
        <p:nvSpPr>
          <p:cNvPr id="27" name="Text 21"/>
          <p:cNvSpPr/>
          <p:nvPr/>
        </p:nvSpPr>
        <p:spPr>
          <a:xfrm>
            <a:off x="7360920" y="3429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</a:t>
            </a: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500" b="1" dirty="0" err="1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tabulado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36092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4764024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0080" y="4764024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31" name="Shape 25"/>
          <p:cNvSpPr/>
          <p:nvPr/>
        </p:nvSpPr>
        <p:spPr>
          <a:xfrm>
            <a:off x="896112" y="5020056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sp>
        <p:nvSpPr>
          <p:cNvPr id="33" name="Text 26"/>
          <p:cNvSpPr/>
          <p:nvPr/>
        </p:nvSpPr>
        <p:spPr>
          <a:xfrm>
            <a:off x="1737360" y="496519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Redução</a:t>
            </a:r>
            <a:r>
              <a:rPr lang="en-US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WhatsApp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1737360" y="53309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263640" y="4764024"/>
            <a:ext cx="525780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263640" y="4764024"/>
            <a:ext cx="64008" cy="1371600"/>
          </a:xfrm>
          <a:prstGeom prst="rect">
            <a:avLst/>
          </a:prstGeom>
          <a:solidFill>
            <a:srgbClr val="B23B30"/>
          </a:solidFill>
          <a:ln/>
        </p:spPr>
      </p:sp>
      <p:sp>
        <p:nvSpPr>
          <p:cNvPr id="37" name="Shape 30"/>
          <p:cNvSpPr/>
          <p:nvPr/>
        </p:nvSpPr>
        <p:spPr>
          <a:xfrm>
            <a:off x="6519672" y="5020056"/>
            <a:ext cx="640080" cy="640080"/>
          </a:xfrm>
          <a:prstGeom prst="ellipse">
            <a:avLst/>
          </a:prstGeom>
          <a:solidFill>
            <a:srgbClr val="FBE3DF"/>
          </a:solidFill>
          <a:ln/>
        </p:spPr>
      </p:sp>
      <p:sp>
        <p:nvSpPr>
          <p:cNvPr id="39" name="Text 31"/>
          <p:cNvSpPr/>
          <p:nvPr/>
        </p:nvSpPr>
        <p:spPr>
          <a:xfrm>
            <a:off x="7360920" y="4965191"/>
            <a:ext cx="3931920" cy="731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Redução de ruídos e reclamações de atendimento</a:t>
            </a:r>
          </a:p>
        </p:txBody>
      </p:sp>
      <p:sp>
        <p:nvSpPr>
          <p:cNvPr id="40" name="Text 32"/>
          <p:cNvSpPr/>
          <p:nvPr/>
        </p:nvSpPr>
        <p:spPr>
          <a:xfrm>
            <a:off x="7360920" y="53309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12</a:t>
            </a:r>
            <a:endParaRPr lang="en-US" sz="900" dirty="0"/>
          </a:p>
        </p:txBody>
      </p:sp>
      <p:pic>
        <p:nvPicPr>
          <p:cNvPr id="46" name="Google Shape;376;p3">
            <a:extLst>
              <a:ext uri="{FF2B5EF4-FFF2-40B4-BE49-F238E27FC236}">
                <a16:creationId xmlns:a16="http://schemas.microsoft.com/office/drawing/2014/main" id="{86ED5BB8-4340-44A2-9879-D3BE4BF9A17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742187">
            <a:off x="1038622" y="2137696"/>
            <a:ext cx="355059" cy="342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376;p3">
            <a:extLst>
              <a:ext uri="{FF2B5EF4-FFF2-40B4-BE49-F238E27FC236}">
                <a16:creationId xmlns:a16="http://schemas.microsoft.com/office/drawing/2014/main" id="{15423DBF-3566-4B7E-9478-DFD6B466B14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742187">
            <a:off x="1038621" y="3634172"/>
            <a:ext cx="355059" cy="342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376;p3">
            <a:extLst>
              <a:ext uri="{FF2B5EF4-FFF2-40B4-BE49-F238E27FC236}">
                <a16:creationId xmlns:a16="http://schemas.microsoft.com/office/drawing/2014/main" id="{131BECFD-0333-4B46-A1F2-977858B3B92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742187">
            <a:off x="1049348" y="5168931"/>
            <a:ext cx="355059" cy="342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376;p3">
            <a:extLst>
              <a:ext uri="{FF2B5EF4-FFF2-40B4-BE49-F238E27FC236}">
                <a16:creationId xmlns:a16="http://schemas.microsoft.com/office/drawing/2014/main" id="{49477BBE-4035-4BA1-B9FB-F356206DAA3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742187">
            <a:off x="6662183" y="2123979"/>
            <a:ext cx="355059" cy="342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376;p3">
            <a:extLst>
              <a:ext uri="{FF2B5EF4-FFF2-40B4-BE49-F238E27FC236}">
                <a16:creationId xmlns:a16="http://schemas.microsoft.com/office/drawing/2014/main" id="{2CD7D9ED-11E3-4BB0-88BA-DD75D763523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742187">
            <a:off x="6662183" y="3634173"/>
            <a:ext cx="355059" cy="342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376;p3">
            <a:extLst>
              <a:ext uri="{FF2B5EF4-FFF2-40B4-BE49-F238E27FC236}">
                <a16:creationId xmlns:a16="http://schemas.microsoft.com/office/drawing/2014/main" id="{22BB2A07-92B2-4BAF-9989-B7F80D80694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742187">
            <a:off x="6672399" y="5182517"/>
            <a:ext cx="355059" cy="3423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05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C6C7BF1B-3F5B-4863-91AB-9EB1A7962CED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C7387CF7-7AFF-47B0-801C-B9CEE654B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820919" y="60621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GANHO DE TEMPO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5319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 minutos digitando a segundos selecionando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9392" y="21717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10 min</a:t>
            </a:r>
            <a:endParaRPr lang="en-US" sz="4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OC no Excel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879" y="24688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1000" y="22174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51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3 min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3035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9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OC no SisLog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160520"/>
            <a:ext cx="3346704" cy="17830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4160520"/>
            <a:ext cx="3346704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8912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60%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22960" y="52578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tempo gasto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cada OC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15968" y="4160520"/>
            <a:ext cx="3346704" cy="17830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15968" y="4160520"/>
            <a:ext cx="3346704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6" name="Text 13"/>
          <p:cNvSpPr/>
          <p:nvPr/>
        </p:nvSpPr>
        <p:spPr>
          <a:xfrm>
            <a:off x="4315968" y="438912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4 h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4498848" y="52578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liberadas por dia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30 OCs/dia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91856" y="4160520"/>
            <a:ext cx="3346704" cy="178308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91856" y="4160520"/>
            <a:ext cx="3346704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0" name="Text 17"/>
          <p:cNvSpPr/>
          <p:nvPr/>
        </p:nvSpPr>
        <p:spPr>
          <a:xfrm>
            <a:off x="7991856" y="438912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8174736" y="52578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cadastros redigitados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cada solicitação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Estimativa operacional baseada no fluxo atual de preenchimento manual. O ganho cresce com o volume diário de OCs.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25" name="Google Shape;375;p3">
            <a:extLst>
              <a:ext uri="{FF2B5EF4-FFF2-40B4-BE49-F238E27FC236}">
                <a16:creationId xmlns:a16="http://schemas.microsoft.com/office/drawing/2014/main" id="{79EE7F15-A242-4F41-A0B9-E106AA5B0CC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8051" y="2573736"/>
            <a:ext cx="288942" cy="293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76;p3">
            <a:extLst>
              <a:ext uri="{FF2B5EF4-FFF2-40B4-BE49-F238E27FC236}">
                <a16:creationId xmlns:a16="http://schemas.microsoft.com/office/drawing/2014/main" id="{FCF8A75F-B5F7-495B-A0B7-0CA68820CC3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8742187">
            <a:off x="8082911" y="2585713"/>
            <a:ext cx="355059" cy="34232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Shape 7">
            <a:extLst>
              <a:ext uri="{FF2B5EF4-FFF2-40B4-BE49-F238E27FC236}">
                <a16:creationId xmlns:a16="http://schemas.microsoft.com/office/drawing/2014/main" id="{D97317F7-377F-4F39-9F84-CD044A6F6875}"/>
              </a:ext>
            </a:extLst>
          </p:cNvPr>
          <p:cNvSpPr/>
          <p:nvPr/>
        </p:nvSpPr>
        <p:spPr>
          <a:xfrm>
            <a:off x="640080" y="2185755"/>
            <a:ext cx="7866459" cy="1234101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10 min</a:t>
            </a:r>
            <a:r>
              <a:rPr lang="en-US" sz="32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	</a:t>
            </a:r>
            <a:r>
              <a:rPr lang="en-US" sz="18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			</a:t>
            </a:r>
            <a:r>
              <a:rPr lang="en-US" sz="4000" b="1" dirty="0">
                <a:solidFill>
                  <a:srgbClr val="FF51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≈ 3 min</a:t>
            </a:r>
            <a:endParaRPr lang="en-US" sz="1800" dirty="0"/>
          </a:p>
          <a:p>
            <a:r>
              <a:rPr lang="en-US" sz="18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OC no Excel					</a:t>
            </a:r>
            <a:r>
              <a:rPr lang="en-US" sz="1800" dirty="0">
                <a:solidFill>
                  <a:srgbClr val="E7E9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OC no </a:t>
            </a:r>
            <a:r>
              <a:rPr lang="en-US" sz="1800" dirty="0" err="1">
                <a:solidFill>
                  <a:srgbClr val="E7E9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</a:t>
            </a:r>
            <a:endParaRPr lang="en-US" sz="1800" dirty="0"/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pt-BR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D8979117-D983-4F33-BB50-9556266EED02}"/>
              </a:ext>
            </a:extLst>
          </p:cNvPr>
          <p:cNvSpPr/>
          <p:nvPr/>
        </p:nvSpPr>
        <p:spPr>
          <a:xfrm>
            <a:off x="640080" y="2121278"/>
            <a:ext cx="7866458" cy="73152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4BBA6EC5-DDE6-42AC-9C73-42E4EED12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818" y="2358813"/>
            <a:ext cx="769033" cy="769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D08B78B3-2758-4B9F-B569-068589C5E0EF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D1FB8A70-8898-4E61-8D01-461781847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Quem</a:t>
            </a:r>
            <a:r>
              <a:rPr lang="en-US" sz="4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usará</a:t>
            </a:r>
            <a:r>
              <a:rPr lang="en-US" sz="4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6362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823" y="323971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LHG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Equipe</a:t>
            </a: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interna LHG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6616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970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903" y="323971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</a:rPr>
              <a:t>PJs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6732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Equipe</a:t>
            </a: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Pjs que </a:t>
            </a: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atuam</a:t>
            </a: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captação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9224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1578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7983" y="3239719"/>
            <a:ext cx="378562" cy="3785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Parceiros</a:t>
            </a: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Estratégicos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69340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Transportadores</a:t>
            </a: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parceiros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41832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34186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4063" y="3239719"/>
            <a:ext cx="378562" cy="3785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Grandes </a:t>
            </a:r>
            <a:r>
              <a:rPr lang="en-US" sz="1700" b="1" dirty="0" err="1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Frotistas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61948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Frotistas</a:t>
            </a: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parceiros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0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  ·  LHG Logística / OC Express Transportes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26457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>
            <a:extLst>
              <a:ext uri="{FF2B5EF4-FFF2-40B4-BE49-F238E27FC236}">
                <a16:creationId xmlns:a16="http://schemas.microsoft.com/office/drawing/2014/main" id="{DBC9FAAF-0789-4543-861E-A8F0AE8D140E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813EA442-FEBE-4573-9D1E-4D42E92B9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216652" y="536489"/>
            <a:ext cx="1677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5319" y="1012979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Cadastra uma vez, </a:t>
            </a:r>
            <a:r>
              <a:rPr lang="en-US" sz="3100" b="1" dirty="0" err="1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reutiliza</a:t>
            </a: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 em toda OC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97480" cy="713232"/>
          </a:xfrm>
          <a:prstGeom prst="roundRect">
            <a:avLst>
              <a:gd name="adj" fmla="val 641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65960"/>
            <a:ext cx="438912" cy="438912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" y="2084466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82880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Motoristas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566160" y="1828800"/>
            <a:ext cx="2697480" cy="713232"/>
          </a:xfrm>
          <a:prstGeom prst="roundRect">
            <a:avLst>
              <a:gd name="adj" fmla="val 641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12464" y="1965960"/>
            <a:ext cx="438912" cy="438912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0970" y="208446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9392" y="182880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Veículos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2724912"/>
            <a:ext cx="2697480" cy="713232"/>
          </a:xfrm>
          <a:prstGeom prst="roundRect">
            <a:avLst>
              <a:gd name="adj" fmla="val 641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6384" y="2862072"/>
            <a:ext cx="438912" cy="438912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90" y="2980578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3312" y="272491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Carretas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3566160" y="2724912"/>
            <a:ext cx="2697480" cy="713232"/>
          </a:xfrm>
          <a:prstGeom prst="roundRect">
            <a:avLst>
              <a:gd name="adj" fmla="val 641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12464" y="2862072"/>
            <a:ext cx="438912" cy="438912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0970" y="2980578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79392" y="272491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Clientes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640080" y="3621024"/>
            <a:ext cx="2697480" cy="713232"/>
          </a:xfrm>
          <a:prstGeom prst="roundRect">
            <a:avLst>
              <a:gd name="adj" fmla="val 641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86384" y="3758184"/>
            <a:ext cx="438912" cy="438912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90" y="3876690"/>
            <a:ext cx="201900" cy="2019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53312" y="3621024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Materiais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3566160" y="3621024"/>
            <a:ext cx="2697480" cy="713232"/>
          </a:xfrm>
          <a:prstGeom prst="roundRect">
            <a:avLst>
              <a:gd name="adj" fmla="val 641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712464" y="3758184"/>
            <a:ext cx="438912" cy="438912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0970" y="3876690"/>
            <a:ext cx="201900" cy="2019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279392" y="3621024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Subcontratadas</a:t>
            </a:r>
            <a:endParaRPr lang="en-US" sz="1450" dirty="0"/>
          </a:p>
        </p:txBody>
      </p:sp>
      <p:sp>
        <p:nvSpPr>
          <p:cNvPr id="29" name="Shape 21"/>
          <p:cNvSpPr/>
          <p:nvPr/>
        </p:nvSpPr>
        <p:spPr>
          <a:xfrm>
            <a:off x="640080" y="4517136"/>
            <a:ext cx="2697480" cy="713232"/>
          </a:xfrm>
          <a:prstGeom prst="roundRect">
            <a:avLst>
              <a:gd name="adj" fmla="val 6410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86384" y="4654296"/>
            <a:ext cx="438912" cy="438912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90" y="4772802"/>
            <a:ext cx="201900" cy="2019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353312" y="4517136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Parceiros</a:t>
            </a:r>
            <a:endParaRPr lang="en-US" sz="1450" dirty="0"/>
          </a:p>
        </p:txBody>
      </p:sp>
      <p:sp>
        <p:nvSpPr>
          <p:cNvPr id="33" name="Shape 24"/>
          <p:cNvSpPr/>
          <p:nvPr/>
        </p:nvSpPr>
        <p:spPr>
          <a:xfrm>
            <a:off x="6720840" y="1828800"/>
            <a:ext cx="4800600" cy="3840480"/>
          </a:xfrm>
          <a:prstGeom prst="rect">
            <a:avLst/>
          </a:prstGeom>
          <a:solidFill>
            <a:srgbClr val="1D1E1B"/>
          </a:solidFill>
          <a:ln/>
        </p:spPr>
      </p:sp>
      <p:sp>
        <p:nvSpPr>
          <p:cNvPr id="34" name="Shape 25"/>
          <p:cNvSpPr/>
          <p:nvPr/>
        </p:nvSpPr>
        <p:spPr>
          <a:xfrm>
            <a:off x="6720840" y="1828800"/>
            <a:ext cx="73152" cy="384048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5" name="Text 26"/>
          <p:cNvSpPr/>
          <p:nvPr/>
        </p:nvSpPr>
        <p:spPr>
          <a:xfrm>
            <a:off x="7086600" y="2103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 que isso acelera tudo</a:t>
            </a:r>
            <a:endParaRPr lang="en-US" sz="18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2734056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470648" y="26609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Autocomplete</a:t>
            </a:r>
            <a:endParaRPr lang="en-US" sz="1400" dirty="0"/>
          </a:p>
        </p:txBody>
      </p:sp>
      <p:sp>
        <p:nvSpPr>
          <p:cNvPr id="38" name="Text 28"/>
          <p:cNvSpPr/>
          <p:nvPr/>
        </p:nvSpPr>
        <p:spPr>
          <a:xfrm>
            <a:off x="7445275" y="2879683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Digite as primeiras letras e </a:t>
            </a:r>
            <a:r>
              <a:rPr lang="en-US" sz="1150" dirty="0" err="1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selecione</a:t>
            </a: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Nada de redigitar dados.</a:t>
            </a:r>
            <a:endParaRPr lang="en-US" sz="115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3483864"/>
            <a:ext cx="256032" cy="25603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470648" y="34107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Quick-create</a:t>
            </a:r>
            <a:endParaRPr lang="en-US" sz="1400" dirty="0"/>
          </a:p>
        </p:txBody>
      </p:sp>
      <p:sp>
        <p:nvSpPr>
          <p:cNvPr id="41" name="Text 30"/>
          <p:cNvSpPr/>
          <p:nvPr/>
        </p:nvSpPr>
        <p:spPr>
          <a:xfrm>
            <a:off x="7445275" y="35681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Faltou um cadastro? Crie na hora, sem sair da solicitação.</a:t>
            </a:r>
            <a:endParaRPr lang="en-US" sz="115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4233672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470648" y="41605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Padronizado</a:t>
            </a:r>
            <a:endParaRPr lang="en-US" sz="1400" dirty="0"/>
          </a:p>
        </p:txBody>
      </p:sp>
      <p:sp>
        <p:nvSpPr>
          <p:cNvPr id="44" name="Text 32"/>
          <p:cNvSpPr/>
          <p:nvPr/>
        </p:nvSpPr>
        <p:spPr>
          <a:xfrm>
            <a:off x="7470648" y="437083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mesmos dados para todos: placa, CPF e nomes sempre certos.</a:t>
            </a:r>
            <a:endParaRPr lang="en-US" sz="115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4983480"/>
            <a:ext cx="256032" cy="25603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470648" y="49103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Ativa / inativa</a:t>
            </a:r>
            <a:endParaRPr lang="en-US" sz="1400" dirty="0"/>
          </a:p>
        </p:txBody>
      </p:sp>
      <p:sp>
        <p:nvSpPr>
          <p:cNvPr id="47" name="Text 34"/>
          <p:cNvSpPr/>
          <p:nvPr/>
        </p:nvSpPr>
        <p:spPr>
          <a:xfrm>
            <a:off x="7445275" y="505104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Mantém o histórico sem poluir as listas do dia a dia.</a:t>
            </a:r>
            <a:endParaRPr lang="en-US" sz="1150" dirty="0"/>
          </a:p>
        </p:txBody>
      </p:sp>
      <p:sp>
        <p:nvSpPr>
          <p:cNvPr id="48" name="Text 3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49" name="Text 36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>
            <a:extLst>
              <a:ext uri="{FF2B5EF4-FFF2-40B4-BE49-F238E27FC236}">
                <a16:creationId xmlns:a16="http://schemas.microsoft.com/office/drawing/2014/main" id="{6897DD5E-F9A4-4D48-8A29-776C142D7717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BA2DA060-10A2-4E23-8220-27F89EF9C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131" y="7451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151966" y="612648"/>
            <a:ext cx="1857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SOLICITAÇÕES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0272" y="114452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Criar uma solicitação em segundos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713232" cy="713232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385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Abra de qualquer tela</a:t>
            </a:r>
            <a:endParaRPr lang="en-US" sz="1600" dirty="0">
              <a:highlight>
                <a:srgbClr val="C0C0C0"/>
              </a:highlight>
            </a:endParaRPr>
          </a:p>
        </p:txBody>
      </p:sp>
      <p:sp>
        <p:nvSpPr>
          <p:cNvPr id="8" name="Text 6"/>
          <p:cNvSpPr/>
          <p:nvPr/>
        </p:nvSpPr>
        <p:spPr>
          <a:xfrm>
            <a:off x="1575511" y="2159847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O atalho Ctrl+N abre a Nova Solicitação na hora, sem navegar por menus.</a:t>
            </a:r>
            <a:endParaRPr lang="en-US" sz="1250" dirty="0">
              <a:highlight>
                <a:srgbClr val="C0C0C0"/>
              </a:highlight>
            </a:endParaRPr>
          </a:p>
        </p:txBody>
      </p:sp>
      <p:sp>
        <p:nvSpPr>
          <p:cNvPr id="9" name="Shape 7"/>
          <p:cNvSpPr/>
          <p:nvPr/>
        </p:nvSpPr>
        <p:spPr>
          <a:xfrm>
            <a:off x="978408" y="2651760"/>
            <a:ext cx="36576" cy="310896"/>
          </a:xfrm>
          <a:prstGeom prst="rect">
            <a:avLst/>
          </a:prstGeom>
          <a:solidFill>
            <a:srgbClr val="F1C9B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008376"/>
            <a:ext cx="713232" cy="713232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083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30083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Selecione o que já existe</a:t>
            </a:r>
            <a:endParaRPr lang="en-US" sz="1600" dirty="0">
              <a:highlight>
                <a:srgbClr val="C0C0C0"/>
              </a:highlight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3234267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Motorista, veículo, cliente e material por busca com autocomplete.</a:t>
            </a:r>
            <a:endParaRPr lang="en-US" sz="1250" dirty="0">
              <a:highlight>
                <a:srgbClr val="C0C0C0"/>
              </a:highlight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8408" y="3721608"/>
            <a:ext cx="36576" cy="310896"/>
          </a:xfrm>
          <a:prstGeom prst="rect">
            <a:avLst/>
          </a:prstGeom>
          <a:solidFill>
            <a:srgbClr val="F1C9B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078224"/>
            <a:ext cx="713232" cy="713232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782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00200" y="40782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Falta cadastro? Crie na hora</a:t>
            </a:r>
            <a:endParaRPr lang="en-US" sz="1600" dirty="0">
              <a:highlight>
                <a:srgbClr val="C0C0C0"/>
              </a:highlight>
            </a:endParaRPr>
          </a:p>
        </p:txBody>
      </p:sp>
      <p:sp>
        <p:nvSpPr>
          <p:cNvPr id="18" name="Text 16"/>
          <p:cNvSpPr/>
          <p:nvPr/>
        </p:nvSpPr>
        <p:spPr>
          <a:xfrm>
            <a:off x="1600200" y="4283795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O quick-create adiciona o registro sem fechar a solicitação.</a:t>
            </a:r>
            <a:endParaRPr lang="en-US" sz="1250" dirty="0">
              <a:highlight>
                <a:srgbClr val="C0C0C0"/>
              </a:highlight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78408" y="4791456"/>
            <a:ext cx="36576" cy="310896"/>
          </a:xfrm>
          <a:prstGeom prst="rect">
            <a:avLst/>
          </a:prstGeom>
          <a:solidFill>
            <a:srgbClr val="F1C9B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148072"/>
            <a:ext cx="713232" cy="713232"/>
          </a:xfrm>
          <a:prstGeom prst="ellipse">
            <a:avLst/>
          </a:prstGeom>
          <a:solidFill>
            <a:srgbClr val="FF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480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5148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</a:t>
            </a:r>
            <a:endParaRPr lang="en-US" sz="1600" dirty="0">
              <a:highlight>
                <a:srgbClr val="C0C0C0"/>
              </a:highlight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00200" y="5357029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 solicitação entra na fila com status </a:t>
            </a:r>
            <a:r>
              <a:rPr lang="en-US" sz="1250" dirty="0" err="1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pronta</a:t>
            </a: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para virar OC.</a:t>
            </a:r>
            <a:endParaRPr lang="en-US" sz="1250" dirty="0">
              <a:highlight>
                <a:srgbClr val="C0C0C0"/>
              </a:highlight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549640" y="1828800"/>
            <a:ext cx="2971800" cy="41605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24060" y="2240280"/>
            <a:ext cx="822960" cy="82296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59" y="2462479"/>
            <a:ext cx="378562" cy="37856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778240" y="3200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Pensado para a rotina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823960" y="3657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cliques e menos rolagem em </a:t>
            </a:r>
            <a:r>
              <a:rPr lang="en-US" sz="13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</a:t>
            </a:r>
            <a:r>
              <a:rPr lang="en-US" sz="13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solicitação</a:t>
            </a:r>
            <a:r>
              <a:rPr lang="en-US" sz="13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3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Desenhado</a:t>
            </a:r>
            <a:r>
              <a:rPr lang="en-US" sz="13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equipes que processam </a:t>
            </a:r>
            <a:r>
              <a:rPr lang="en-US" sz="13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até</a:t>
            </a:r>
            <a:r>
              <a:rPr lang="en-US" sz="13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70 atendimentos por dia.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>
            <a:extLst>
              <a:ext uri="{FF2B5EF4-FFF2-40B4-BE49-F238E27FC236}">
                <a16:creationId xmlns:a16="http://schemas.microsoft.com/office/drawing/2014/main" id="{208FD610-8136-49DF-A015-927FCF08095F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FF75CA33-B75F-4A9B-9713-6D1A3AF5F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892040" y="593852"/>
            <a:ext cx="199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GERAÇÃO DA OC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08356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 PDF da OC, idêntico ao modelo, gerado sozinho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6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solidFill>
            <a:srgbClr val="1D1E1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ORDEM DE CARREGAMENTO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51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2862072"/>
            <a:ext cx="1645920" cy="18288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36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Subcontratada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3300984"/>
            <a:ext cx="1645920" cy="18288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75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Motorista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3739896"/>
            <a:ext cx="1645920" cy="18288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14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Cavalo / Carreta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4178808"/>
            <a:ext cx="1645920" cy="18288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53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/ Destino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4617720"/>
            <a:ext cx="1645920" cy="18288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92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5056632"/>
            <a:ext cx="1645920" cy="18288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30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5495544"/>
            <a:ext cx="1645920" cy="18288"/>
          </a:xfrm>
          <a:prstGeom prst="rect">
            <a:avLst/>
          </a:prstGeom>
          <a:solidFill>
            <a:srgbClr val="E2E6E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5833872"/>
            <a:ext cx="3657600" cy="10972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828800"/>
            <a:ext cx="777240" cy="77724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735" y="2038655"/>
            <a:ext cx="357530" cy="35753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760720" y="18470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Zero digitação de layout</a:t>
            </a:r>
            <a:endParaRPr lang="en-US" sz="1600" dirty="0">
              <a:highlight>
                <a:srgbClr val="C0C0C0"/>
              </a:highlight>
            </a:endParaRPr>
          </a:p>
        </p:txBody>
      </p:sp>
      <p:sp>
        <p:nvSpPr>
          <p:cNvPr id="27" name="Text 24"/>
          <p:cNvSpPr/>
          <p:nvPr/>
        </p:nvSpPr>
        <p:spPr>
          <a:xfrm>
            <a:off x="5760720" y="20619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O sistema monta a OC no </a:t>
            </a:r>
            <a:r>
              <a:rPr lang="en-US" sz="1250" dirty="0" err="1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padrão</a:t>
            </a: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oficial</a:t>
            </a: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você não formata nada.</a:t>
            </a:r>
            <a:endParaRPr lang="en-US" sz="1250" dirty="0">
              <a:highlight>
                <a:srgbClr val="C0C0C0"/>
              </a:highlight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754880" y="2871216"/>
            <a:ext cx="777240" cy="77724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735" y="3081071"/>
            <a:ext cx="357530" cy="35753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760720" y="28895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Salva na nuvem com segurança</a:t>
            </a:r>
            <a:endParaRPr lang="en-US" sz="1600" dirty="0">
              <a:highlight>
                <a:srgbClr val="C0C0C0"/>
              </a:highlight>
            </a:endParaRPr>
          </a:p>
        </p:txBody>
      </p:sp>
      <p:sp>
        <p:nvSpPr>
          <p:cNvPr id="31" name="Text 27"/>
          <p:cNvSpPr/>
          <p:nvPr/>
        </p:nvSpPr>
        <p:spPr>
          <a:xfrm>
            <a:off x="5760720" y="311581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Cada OC fica guardada em bucket privado, acessível só por quem deve.</a:t>
            </a:r>
            <a:endParaRPr lang="en-US" sz="1250" dirty="0">
              <a:highlight>
                <a:srgbClr val="C0C0C0"/>
              </a:highlight>
            </a:endParaRPr>
          </a:p>
        </p:txBody>
      </p:sp>
      <p:sp>
        <p:nvSpPr>
          <p:cNvPr id="32" name="Shape 28"/>
          <p:cNvSpPr/>
          <p:nvPr/>
        </p:nvSpPr>
        <p:spPr>
          <a:xfrm>
            <a:off x="4754880" y="3913632"/>
            <a:ext cx="777240" cy="77724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735" y="4123487"/>
            <a:ext cx="357530" cy="35753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760720" y="3931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Link seguro temporário</a:t>
            </a:r>
            <a:endParaRPr lang="en-US" sz="1600" dirty="0">
              <a:highlight>
                <a:srgbClr val="C0C0C0"/>
              </a:highlight>
            </a:endParaRPr>
          </a:p>
        </p:txBody>
      </p:sp>
      <p:sp>
        <p:nvSpPr>
          <p:cNvPr id="35" name="Text 30"/>
          <p:cNvSpPr/>
          <p:nvPr/>
        </p:nvSpPr>
        <p:spPr>
          <a:xfrm>
            <a:off x="5760720" y="4144941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Compartilhe por link que </a:t>
            </a:r>
            <a:r>
              <a:rPr lang="en-US" sz="1250" dirty="0" err="1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expira</a:t>
            </a: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sem expor o arquivo para sempre.</a:t>
            </a:r>
            <a:endParaRPr lang="en-US" sz="1250" dirty="0">
              <a:highlight>
                <a:srgbClr val="C0C0C0"/>
              </a:highlight>
            </a:endParaRPr>
          </a:p>
        </p:txBody>
      </p:sp>
      <p:sp>
        <p:nvSpPr>
          <p:cNvPr id="36" name="Shape 31"/>
          <p:cNvSpPr/>
          <p:nvPr/>
        </p:nvSpPr>
        <p:spPr>
          <a:xfrm>
            <a:off x="4754880" y="4956048"/>
            <a:ext cx="777240" cy="77724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735" y="5165903"/>
            <a:ext cx="357530" cy="35753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760720" y="497433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Envio por WhatsApp</a:t>
            </a:r>
            <a:endParaRPr lang="en-US" sz="1600" dirty="0">
              <a:highlight>
                <a:srgbClr val="C0C0C0"/>
              </a:highlight>
            </a:endParaRPr>
          </a:p>
        </p:txBody>
      </p:sp>
      <p:sp>
        <p:nvSpPr>
          <p:cNvPr id="39" name="Text 33"/>
          <p:cNvSpPr/>
          <p:nvPr/>
        </p:nvSpPr>
        <p:spPr>
          <a:xfrm>
            <a:off x="5760720" y="520293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Mensagem pronta com o link da OC, direto do sistema.</a:t>
            </a:r>
            <a:endParaRPr lang="en-US" sz="1250" dirty="0">
              <a:highlight>
                <a:srgbClr val="C0C0C0"/>
              </a:highlight>
            </a:endParaRPr>
          </a:p>
        </p:txBody>
      </p:sp>
      <p:sp>
        <p:nvSpPr>
          <p:cNvPr id="40" name="Text 3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>
            <a:extLst>
              <a:ext uri="{FF2B5EF4-FFF2-40B4-BE49-F238E27FC236}">
                <a16:creationId xmlns:a16="http://schemas.microsoft.com/office/drawing/2014/main" id="{38DE50D4-D750-46FE-B2BC-C209B166956A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3A76A88E-1CE8-44D9-A1EE-E8347A0DF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034263" y="676199"/>
            <a:ext cx="2492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5239" y="1453439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Tudo conectado, numa fonte única de verdade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544" y="2858872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Cadastros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891" y="3081528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9179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9179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3" name="Shape 9"/>
          <p:cNvSpPr/>
          <p:nvPr/>
        </p:nvSpPr>
        <p:spPr>
          <a:xfrm>
            <a:off x="339471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9254" y="2858872"/>
            <a:ext cx="399593" cy="3995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9179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Solicitação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601" y="3081528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4350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14350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9" name="Shape 13"/>
          <p:cNvSpPr/>
          <p:nvPr/>
        </p:nvSpPr>
        <p:spPr>
          <a:xfrm>
            <a:off x="564642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0964" y="2858872"/>
            <a:ext cx="399593" cy="3995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4350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 em PDF</a:t>
            </a:r>
            <a:endParaRPr lang="en-US" sz="14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311" y="3081528"/>
            <a:ext cx="292608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9521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39521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5" name="Shape 17"/>
          <p:cNvSpPr/>
          <p:nvPr/>
        </p:nvSpPr>
        <p:spPr>
          <a:xfrm>
            <a:off x="789813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2674" y="2858872"/>
            <a:ext cx="399593" cy="39959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39521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14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2021" y="3081528"/>
            <a:ext cx="292608" cy="29260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646920" y="233172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9646920" y="2331720"/>
            <a:ext cx="1874520" cy="64008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31" name="Shape 21"/>
          <p:cNvSpPr/>
          <p:nvPr/>
        </p:nvSpPr>
        <p:spPr>
          <a:xfrm>
            <a:off x="10149840" y="2624328"/>
            <a:ext cx="868680" cy="86868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4384" y="2858872"/>
            <a:ext cx="399593" cy="399593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646920" y="363016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&amp; painel</a:t>
            </a:r>
            <a:endParaRPr lang="en-US" sz="1400" dirty="0"/>
          </a:p>
        </p:txBody>
      </p:sp>
      <p:sp>
        <p:nvSpPr>
          <p:cNvPr id="34" name="Shape 23"/>
          <p:cNvSpPr/>
          <p:nvPr/>
        </p:nvSpPr>
        <p:spPr>
          <a:xfrm>
            <a:off x="640080" y="4846320"/>
            <a:ext cx="640080" cy="64008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902" y="5019142"/>
            <a:ext cx="294437" cy="294437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463040" y="48006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A"/>
                </a:solidFill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Tempo real</a:t>
            </a:r>
            <a:endParaRPr lang="en-US" sz="1400" dirty="0">
              <a:highlight>
                <a:srgbClr val="C0C0C0"/>
              </a:highlight>
            </a:endParaRPr>
          </a:p>
        </p:txBody>
      </p:sp>
      <p:sp>
        <p:nvSpPr>
          <p:cNvPr id="37" name="Text 25"/>
          <p:cNvSpPr/>
          <p:nvPr/>
        </p:nvSpPr>
        <p:spPr>
          <a:xfrm>
            <a:off x="1463040" y="5138928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O que um atendente altera aparece para todos na hora.</a:t>
            </a:r>
            <a:endParaRPr lang="en-US" sz="1100" dirty="0">
              <a:highlight>
                <a:srgbClr val="C0C0C0"/>
              </a:highlight>
            </a:endParaRPr>
          </a:p>
        </p:txBody>
      </p:sp>
      <p:sp>
        <p:nvSpPr>
          <p:cNvPr id="38" name="Shape 26"/>
          <p:cNvSpPr/>
          <p:nvPr/>
        </p:nvSpPr>
        <p:spPr>
          <a:xfrm>
            <a:off x="4507992" y="4846320"/>
            <a:ext cx="640080" cy="64008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0814" y="5019142"/>
            <a:ext cx="294437" cy="294437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330952" y="48006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A"/>
                </a:solidFill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Fonte única</a:t>
            </a:r>
            <a:endParaRPr lang="en-US" sz="1400" dirty="0">
              <a:highlight>
                <a:srgbClr val="C0C0C0"/>
              </a:highlight>
            </a:endParaRPr>
          </a:p>
        </p:txBody>
      </p:sp>
      <p:sp>
        <p:nvSpPr>
          <p:cNvPr id="41" name="Text 28"/>
          <p:cNvSpPr/>
          <p:nvPr/>
        </p:nvSpPr>
        <p:spPr>
          <a:xfrm>
            <a:off x="5330952" y="5138928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Um só lugar para dados, OCs e histórico — sem planilhas soltas.</a:t>
            </a:r>
            <a:endParaRPr lang="en-US" sz="1100" dirty="0">
              <a:highlight>
                <a:srgbClr val="C0C0C0"/>
              </a:highlight>
            </a:endParaRPr>
          </a:p>
        </p:txBody>
      </p:sp>
      <p:sp>
        <p:nvSpPr>
          <p:cNvPr id="42" name="Shape 29"/>
          <p:cNvSpPr/>
          <p:nvPr/>
        </p:nvSpPr>
        <p:spPr>
          <a:xfrm>
            <a:off x="8375904" y="4846320"/>
            <a:ext cx="640080" cy="64008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8726" y="5019142"/>
            <a:ext cx="294437" cy="294437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9198864" y="48006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42A"/>
                </a:solidFill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Multiusuário</a:t>
            </a:r>
            <a:endParaRPr lang="en-US" sz="1400" dirty="0">
              <a:highlight>
                <a:srgbClr val="C0C0C0"/>
              </a:highlight>
            </a:endParaRPr>
          </a:p>
        </p:txBody>
      </p:sp>
      <p:sp>
        <p:nvSpPr>
          <p:cNvPr id="45" name="Text 31"/>
          <p:cNvSpPr/>
          <p:nvPr/>
        </p:nvSpPr>
        <p:spPr>
          <a:xfrm>
            <a:off x="9198864" y="5138928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highlight>
                  <a:srgbClr val="C0C0C0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 equipe inteira trabalha junta, sem versão duplicada de arquivo.</a:t>
            </a:r>
            <a:endParaRPr lang="en-US" sz="1100" dirty="0">
              <a:highlight>
                <a:srgbClr val="C0C0C0"/>
              </a:highlight>
            </a:endParaRPr>
          </a:p>
        </p:txBody>
      </p:sp>
      <p:sp>
        <p:nvSpPr>
          <p:cNvPr id="46" name="Text 3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9410251E-772E-47FB-B00D-236722725E50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E1F8B720-7DD5-4324-9AA7-7C1BCFD2E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786884" y="615189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CONFIABILIDADE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241891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Dado certo na primeira vez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7" name="Shape 5"/>
          <p:cNvSpPr/>
          <p:nvPr/>
        </p:nvSpPr>
        <p:spPr>
          <a:xfrm>
            <a:off x="1517904" y="2286000"/>
            <a:ext cx="914400" cy="91440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792" y="253288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3375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Validações automáticas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37490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CPF, CNPJ, placa e telefone conferidos no preenchimento.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6616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43984" y="2286000"/>
            <a:ext cx="914400" cy="91440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253288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33375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Padronização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794760" y="37490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de “mesmo cliente escrito de cinco jeitos” entre planilhas.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9224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9" name="Shape 15"/>
          <p:cNvSpPr/>
          <p:nvPr/>
        </p:nvSpPr>
        <p:spPr>
          <a:xfrm>
            <a:off x="7370064" y="2286000"/>
            <a:ext cx="914400" cy="91440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952" y="253288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33375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 err="1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720840" y="37490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</a:t>
            </a:r>
            <a:r>
              <a:rPr lang="en-US" sz="11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completamente</a:t>
            </a: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Seguro e </a:t>
            </a:r>
            <a:r>
              <a:rPr lang="en-US" sz="11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</a:t>
            </a: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risco</a:t>
            </a: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1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vazamento</a:t>
            </a: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dados.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418320" y="1920240"/>
            <a:ext cx="2670048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418320" y="1920240"/>
            <a:ext cx="2670048" cy="73152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25" name="Shape 20"/>
          <p:cNvSpPr/>
          <p:nvPr/>
        </p:nvSpPr>
        <p:spPr>
          <a:xfrm>
            <a:off x="10296144" y="2286000"/>
            <a:ext cx="914400" cy="914400"/>
          </a:xfrm>
          <a:prstGeom prst="ellipse">
            <a:avLst/>
          </a:prstGeom>
          <a:solidFill>
            <a:srgbClr val="FFE7DA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3032" y="2532888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0" y="33375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auditável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646920" y="37490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 ação </a:t>
            </a:r>
            <a:r>
              <a:rPr lang="en-US" sz="11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fica</a:t>
            </a: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registrada</a:t>
            </a: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 err="1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</a:t>
            </a:r>
            <a:r>
              <a:rPr lang="en-US" sz="11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total da operação.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Menos correção, menos OC refeita, menos caminhão parado por erro de cadastro.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0" name="Text 2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CBF06B24-E832-4208-8C04-BB859AEE628B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EE45C835-DD99-4872-AAA5-9CF9BFD5B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469466" y="550164"/>
            <a:ext cx="16797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ALÉM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8117" y="112166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 sistema cresce junto com a operação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85232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24414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2860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4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Portal de Parceiros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057400" y="274320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Transportadora parceira cria a solicitação no portal e ela cai direto na inbox da LHG.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6850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61188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Ambiente isolado e Seguro, vê só os próprios dados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2885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215384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digitação para a equipe interna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9204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818888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de pedidos padronizada, sem WhatsApp solto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36208" y="1828800"/>
            <a:ext cx="5285232" cy="3931920"/>
          </a:xfrm>
          <a:prstGeom prst="rect">
            <a:avLst/>
          </a:prstGeom>
          <a:solidFill>
            <a:srgbClr val="1D1E1B"/>
          </a:solidFill>
          <a:ln/>
        </p:spPr>
      </p:sp>
      <p:sp>
        <p:nvSpPr>
          <p:cNvPr id="17" name="Shape 11"/>
          <p:cNvSpPr/>
          <p:nvPr/>
        </p:nvSpPr>
        <p:spPr>
          <a:xfrm>
            <a:off x="6236208" y="1828800"/>
            <a:ext cx="73152" cy="3931920"/>
          </a:xfrm>
          <a:prstGeom prst="rect">
            <a:avLst/>
          </a:prstGeom>
          <a:solidFill>
            <a:srgbClr val="FF5100"/>
          </a:solidFill>
          <a:ln/>
        </p:spPr>
      </p:sp>
      <p:sp>
        <p:nvSpPr>
          <p:cNvPr id="18" name="Shape 12"/>
          <p:cNvSpPr/>
          <p:nvPr/>
        </p:nvSpPr>
        <p:spPr>
          <a:xfrm>
            <a:off x="6601968" y="2194560"/>
            <a:ext cx="914400" cy="91440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2441448"/>
            <a:ext cx="420624" cy="4206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53528" y="22860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Agente de WhatsApp com IA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7653528" y="2743200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mensagem do WhatsApp vira solicitação sozinha, com leitura inteligente dos dados.</a:t>
            </a:r>
            <a:endParaRPr lang="en-US" sz="12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368503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13448" y="361188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 o pedido e extrai motorista, placa e material</a:t>
            </a:r>
            <a:endParaRPr lang="en-US" sz="12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288536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13448" y="4215384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 a solicitação sem digitação manual</a:t>
            </a:r>
            <a:endParaRPr lang="en-US" sz="12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892040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013448" y="4818888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Operação 24/7, sem depender de alguém na tela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E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D08B78B3-2758-4B9F-B569-068589C5E0EF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D1FB8A70-8898-4E61-8D01-461781847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Mais OCs, </a:t>
            </a:r>
            <a:r>
              <a:rPr lang="en-US" sz="4400" b="1" dirty="0">
                <a:solidFill>
                  <a:srgbClr val="FF510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menos cliques.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6362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823" y="323971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Mais rápido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60% menos tempo por OC, de minutos para segundos.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6616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970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903" y="323971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Integrado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6732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Cadastros, solicitação, PDF e WhatsApp num fluxo só.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9224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1578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7983" y="3239719"/>
            <a:ext cx="378562" cy="3785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Sem retrabalho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69340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e padronização: dado certo na primeira vez.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418320" y="2697480"/>
            <a:ext cx="2670048" cy="2286000"/>
          </a:xfrm>
          <a:prstGeom prst="rect">
            <a:avLst/>
          </a:prstGeom>
          <a:solidFill>
            <a:srgbClr val="2A2F36"/>
          </a:solidFill>
          <a:ln w="12700">
            <a:solidFill>
              <a:srgbClr val="3A404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341864" y="3017520"/>
            <a:ext cx="822960" cy="822960"/>
          </a:xfrm>
          <a:prstGeom prst="ellipse">
            <a:avLst/>
          </a:prstGeom>
          <a:solidFill>
            <a:srgbClr val="FF510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4063" y="3239719"/>
            <a:ext cx="378562" cy="3785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0" y="393192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Sob controle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619488" y="432511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9CD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Status, painel e auditoria de toda a operação.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0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  ·  LHG Logística / OC Express Transportes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E695D155-741E-48BA-A486-9741B519BD2D}"/>
              </a:ext>
            </a:extLst>
          </p:cNvPr>
          <p:cNvSpPr/>
          <p:nvPr/>
        </p:nvSpPr>
        <p:spPr>
          <a:xfrm>
            <a:off x="-128016" y="0"/>
            <a:ext cx="256032" cy="6858000"/>
          </a:xfrm>
          <a:prstGeom prst="rect">
            <a:avLst/>
          </a:prstGeom>
          <a:solidFill>
            <a:srgbClr val="FF5100"/>
          </a:solidFill>
          <a:ln/>
        </p:spPr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72119995-0FB3-4D4A-96E0-63298C783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90" y="0"/>
            <a:ext cx="12235779" cy="6858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360449" y="594360"/>
            <a:ext cx="28359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5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06527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bg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Visão e controle da operação inteira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5232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03120"/>
            <a:ext cx="822960" cy="82296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319" y="2325319"/>
            <a:ext cx="378562" cy="3785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13055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em tempo real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965960" y="2569464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de OCs, tempo médio, finalizadas e pendentes — num olhar só.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36208" y="1783080"/>
            <a:ext cx="5285232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6248" y="2103120"/>
            <a:ext cx="822960" cy="82296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447" y="2325319"/>
            <a:ext cx="378562" cy="378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62088" y="213055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&amp; linha do tempo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562088" y="2569464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solicitação mostra exatamente em que etapa está e quando mudou.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840480"/>
            <a:ext cx="5285232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160520"/>
            <a:ext cx="822960" cy="82296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319" y="4382719"/>
            <a:ext cx="378562" cy="3785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18795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global (Ctrl+K)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965960" y="4626864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Encontre qualquer OC, cliente ou motorista de qualquer tela, na hora.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36208" y="3840480"/>
            <a:ext cx="5285232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56248" y="4160520"/>
            <a:ext cx="822960" cy="822960"/>
          </a:xfrm>
          <a:prstGeom prst="ellipse">
            <a:avLst/>
          </a:prstGeom>
          <a:solidFill>
            <a:srgbClr val="1D1E1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8447" y="4382719"/>
            <a:ext cx="378562" cy="3785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62088" y="418795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Auditoria &amp; relatórios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562088" y="4626864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fez o quê e quando, com relatórios por cliente, motorista e período.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2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SisLog LHG</a:t>
            </a: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Sistema de Ordens de Carregamento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424160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2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E33BE08-5620-4F23-B58A-286909CD0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4005940-363E-4FD9-96A5-E61BAB258BFD}"/>
              </a:ext>
            </a:extLst>
          </p:cNvPr>
          <p:cNvSpPr txBox="1"/>
          <p:nvPr/>
        </p:nvSpPr>
        <p:spPr>
          <a:xfrm>
            <a:off x="309034" y="5559336"/>
            <a:ext cx="75395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buClr>
                <a:srgbClr val="012169"/>
              </a:buClr>
              <a:buSzPts val="1400"/>
            </a:pPr>
            <a:r>
              <a:rPr lang="pt-BR" sz="2000" b="1" dirty="0">
                <a:solidFill>
                  <a:schemeClr val="bg1"/>
                </a:solidFill>
                <a:latin typeface="Calibri"/>
                <a:cs typeface="Calibri"/>
              </a:rPr>
              <a:t>Nosso compromisso é sermos líderes no setor, oferecendo serviços de transporte e logística de alta qualidade, superando as expectativas através de um trabalho cuidadoso, de excelência e simplicidade. </a:t>
            </a:r>
            <a:endParaRPr lang="fr-FR" sz="20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5098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1240</Words>
  <Application>Microsoft Office PowerPoint</Application>
  <PresentationFormat>Personalizar</PresentationFormat>
  <Paragraphs>222</Paragraphs>
  <Slides>16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Bahnschrift</vt:lpstr>
      <vt:lpstr>Calibri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SisLog LHG — Vantagens do sistema</dc:title>
  <dc:subject>PptxGenJS Presentation</dc:subject>
  <dc:creator>LHG Logistica</dc:creator>
  <cp:lastModifiedBy>Davi Asaf</cp:lastModifiedBy>
  <cp:revision>11</cp:revision>
  <dcterms:created xsi:type="dcterms:W3CDTF">2026-06-02T22:30:23Z</dcterms:created>
  <dcterms:modified xsi:type="dcterms:W3CDTF">2026-06-03T03:12:47Z</dcterms:modified>
</cp:coreProperties>
</file>